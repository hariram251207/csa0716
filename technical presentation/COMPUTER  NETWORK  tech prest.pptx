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85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77" r:id="rId7"/>
    <p:sldId id="262" r:id="rId8"/>
    <p:sldId id="273" r:id="rId9"/>
    <p:sldId id="269" r:id="rId10"/>
    <p:sldId id="276" r:id="rId11"/>
    <p:sldId id="270" r:id="rId12"/>
    <p:sldId id="271" r:id="rId13"/>
    <p:sldId id="272" r:id="rId14"/>
  </p:sldIdLst>
  <p:sldSz cx="18288000" cy="10287000"/>
  <p:notesSz cx="18288000" cy="10287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E1B5D3-78F6-47BF-B722-04CD60C602B0}">
          <p14:sldIdLst>
            <p14:sldId id="256"/>
            <p14:sldId id="257"/>
            <p14:sldId id="258"/>
            <p14:sldId id="259"/>
            <p14:sldId id="261"/>
            <p14:sldId id="277"/>
            <p14:sldId id="262"/>
            <p14:sldId id="273"/>
            <p14:sldId id="269"/>
            <p14:sldId id="276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9" d="100"/>
          <a:sy n="39" d="100"/>
        </p:scale>
        <p:origin x="964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or mohammad" userId="9f7874a1a676e607" providerId="LiveId" clId="{D6EEC271-B97B-40EE-B312-B762C7CA7D2D}"/>
    <pc:docChg chg="modSld">
      <pc:chgData name="noor mohammad" userId="9f7874a1a676e607" providerId="LiveId" clId="{D6EEC271-B97B-40EE-B312-B762C7CA7D2D}" dt="2026-07-20T04:59:02.215" v="28" actId="20577"/>
      <pc:docMkLst>
        <pc:docMk/>
      </pc:docMkLst>
      <pc:sldChg chg="modSp mod">
        <pc:chgData name="noor mohammad" userId="9f7874a1a676e607" providerId="LiveId" clId="{D6EEC271-B97B-40EE-B312-B762C7CA7D2D}" dt="2026-07-20T04:59:02.215" v="28" actId="20577"/>
        <pc:sldMkLst>
          <pc:docMk/>
          <pc:sldMk cId="0" sldId="256"/>
        </pc:sldMkLst>
        <pc:spChg chg="mod">
          <ac:chgData name="noor mohammad" userId="9f7874a1a676e607" providerId="LiveId" clId="{D6EEC271-B97B-40EE-B312-B762C7CA7D2D}" dt="2026-07-20T04:59:02.215" v="28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B3E37-6F77-4425-B41F-0F808B9D0B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432FF-F292-486F-9832-4BFD4F763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4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432FF-F292-486F-9832-4BFD4F763C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25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432FF-F292-486F-9832-4BFD4F763C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2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18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98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5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33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371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380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54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69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34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018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2235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687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9794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5059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2394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125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0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3874306"/>
            <a:ext cx="16423005" cy="5541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6G Communication Architecture Compared with the OSI Model</a:t>
            </a:r>
          </a:p>
          <a:p>
            <a:pPr lvl="0" algn="ctr"/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US" sz="4400" b="1" dirty="0">
                <a:latin typeface="Times New Roman"/>
                <a:cs typeface="Times New Roman"/>
              </a:rPr>
              <a:t>  </a:t>
            </a:r>
          </a:p>
          <a:p>
            <a:pPr marL="7745730" marR="5080">
              <a:lnSpc>
                <a:spcPct val="116199"/>
              </a:lnSpc>
            </a:pPr>
            <a:r>
              <a:rPr lang="en-US" sz="2800" b="1" dirty="0">
                <a:latin typeface="Times New Roman"/>
                <a:cs typeface="Times New Roman"/>
              </a:rPr>
              <a:t>Presented By</a:t>
            </a:r>
            <a:r>
              <a:rPr lang="en-IN" sz="2800" spc="215" dirty="0">
                <a:latin typeface="Times New Roman"/>
                <a:cs typeface="Times New Roman"/>
              </a:rPr>
              <a:t> </a:t>
            </a:r>
          </a:p>
          <a:p>
            <a:pPr marL="7745730" marR="5080">
              <a:lnSpc>
                <a:spcPct val="116199"/>
              </a:lnSpc>
            </a:pPr>
            <a:r>
              <a:rPr lang="en-IN" sz="2800" spc="240" dirty="0">
                <a:latin typeface="Times New Roman"/>
                <a:cs typeface="Times New Roman"/>
              </a:rPr>
              <a:t>S .Noor Mohammad (192525355)</a:t>
            </a:r>
          </a:p>
          <a:p>
            <a:pPr marL="7745730" marR="5080">
              <a:lnSpc>
                <a:spcPct val="116199"/>
              </a:lnSpc>
            </a:pPr>
            <a:r>
              <a:rPr lang="en-IN" sz="2800" spc="240" dirty="0">
                <a:latin typeface="Times New Roman"/>
                <a:cs typeface="Times New Roman"/>
              </a:rPr>
              <a:t>FAIZAL RIYAZ.A(192524095)</a:t>
            </a:r>
          </a:p>
          <a:p>
            <a:pPr marL="7745730" marR="5080">
              <a:lnSpc>
                <a:spcPct val="116199"/>
              </a:lnSpc>
            </a:pPr>
            <a:r>
              <a:rPr lang="en-IN" sz="2800" spc="240" dirty="0" err="1">
                <a:latin typeface="Times New Roman"/>
                <a:cs typeface="Times New Roman"/>
              </a:rPr>
              <a:t>N.Hariram</a:t>
            </a:r>
            <a:r>
              <a:rPr lang="en-IN" sz="2800" spc="240" dirty="0">
                <a:latin typeface="Times New Roman"/>
                <a:cs typeface="Times New Roman"/>
              </a:rPr>
              <a:t>(192511071)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03429" y="749348"/>
            <a:ext cx="12479139" cy="884216"/>
          </a:xfrm>
          <a:prstGeom prst="rect">
            <a:avLst/>
          </a:prstGeom>
        </p:spPr>
        <p:txBody>
          <a:bodyPr vert="horz" wrap="square" lIns="0" tIns="266065" rIns="0" bIns="0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CSA0716 </a:t>
            </a:r>
            <a:r>
              <a:rPr lang="en-US" sz="4000" b="1" dirty="0"/>
              <a:t>– COMPUTER NETWORKS</a:t>
            </a:r>
            <a:endParaRPr lang="en-IN" sz="4000" b="1" dirty="0"/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4312A73C-5092-598B-D66F-25DDFFB5A8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032" y="367998"/>
            <a:ext cx="1866899" cy="1838324"/>
          </a:xfrm>
          <a:prstGeom prst="rect">
            <a:avLst/>
          </a:prstGeom>
        </p:spPr>
      </p:pic>
      <p:pic>
        <p:nvPicPr>
          <p:cNvPr id="7" name="object 8">
            <a:extLst>
              <a:ext uri="{FF2B5EF4-FFF2-40B4-BE49-F238E27FC236}">
                <a16:creationId xmlns:a16="http://schemas.microsoft.com/office/drawing/2014/main" id="{78484997-2363-0166-15E0-49BCCC02998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83766" y="399173"/>
            <a:ext cx="2057399" cy="18573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" y="9740480"/>
            <a:ext cx="18288000" cy="546735"/>
            <a:chOff x="82" y="9740480"/>
            <a:chExt cx="18288000" cy="546735"/>
          </a:xfrm>
        </p:grpSpPr>
        <p:sp>
          <p:nvSpPr>
            <p:cNvPr id="3" name="object 3"/>
            <p:cNvSpPr/>
            <p:nvPr/>
          </p:nvSpPr>
          <p:spPr>
            <a:xfrm>
              <a:off x="82" y="9745179"/>
              <a:ext cx="18288000" cy="541655"/>
            </a:xfrm>
            <a:custGeom>
              <a:avLst/>
              <a:gdLst/>
              <a:ahLst/>
              <a:cxnLst/>
              <a:rect l="l" t="t" r="r" b="b"/>
              <a:pathLst>
                <a:path w="18288000" h="541654">
                  <a:moveTo>
                    <a:pt x="18287875" y="541528"/>
                  </a:moveTo>
                  <a:lnTo>
                    <a:pt x="0" y="541528"/>
                  </a:lnTo>
                  <a:lnTo>
                    <a:pt x="0" y="0"/>
                  </a:lnTo>
                  <a:lnTo>
                    <a:pt x="18287875" y="0"/>
                  </a:lnTo>
                  <a:lnTo>
                    <a:pt x="18287875" y="541528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82" y="974048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1828787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18287875" y="0"/>
                  </a:lnTo>
                  <a:lnTo>
                    <a:pt x="18287875" y="9525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346" y="1"/>
            <a:ext cx="1076324" cy="1971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8946" y="1"/>
            <a:ext cx="1076324" cy="19716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032" y="367998"/>
            <a:ext cx="1866899" cy="18383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83766" y="399173"/>
            <a:ext cx="2057399" cy="185737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43032" y="496644"/>
            <a:ext cx="13418185" cy="1364817"/>
          </a:xfrm>
          <a:prstGeom prst="rect">
            <a:avLst/>
          </a:prstGeom>
        </p:spPr>
        <p:txBody>
          <a:bodyPr vert="horz" wrap="square" lIns="0" tIns="300058" rIns="0" bIns="0" rtlCol="0">
            <a:spAutoFit/>
          </a:bodyPr>
          <a:lstStyle/>
          <a:p>
            <a:pPr marL="3298190" algn="ctr">
              <a:lnSpc>
                <a:spcPct val="100000"/>
              </a:lnSpc>
              <a:spcBef>
                <a:spcPts val="100"/>
              </a:spcBef>
            </a:pPr>
            <a:r>
              <a:rPr lang="en-US" spc="465" dirty="0"/>
              <a:t>ABSTRACT</a:t>
            </a:r>
            <a:endParaRPr spc="465" dirty="0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9638CD32-B804-7DD1-0DCA-E9805247B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090" y="2979937"/>
            <a:ext cx="15258856" cy="5769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ultra-fast, low-latency, and intelligent wireless communication.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explains network communication using seven layers.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compares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6G architecture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highlights technologies like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THz, Edge Computing, and IoE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comparison shows how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6G improves future network performance and efficiency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6670" y="347988"/>
            <a:ext cx="13418185" cy="1436777"/>
          </a:xfrm>
          <a:prstGeom prst="rect">
            <a:avLst/>
          </a:prstGeom>
        </p:spPr>
        <p:txBody>
          <a:bodyPr vert="horz" wrap="square" lIns="0" tIns="203682" rIns="0" bIns="0" rtlCol="0">
            <a:spAutoFit/>
          </a:bodyPr>
          <a:lstStyle/>
          <a:p>
            <a:pPr marL="2594610" algn="ctr">
              <a:lnSpc>
                <a:spcPct val="100000"/>
              </a:lnSpc>
              <a:spcBef>
                <a:spcPts val="90"/>
              </a:spcBef>
            </a:pPr>
            <a:r>
              <a:rPr lang="en-US" sz="8000" spc="330" dirty="0"/>
              <a:t>INTRODUCTION</a:t>
            </a:r>
            <a:endParaRPr sz="8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A2373-5609-D29F-7421-62FE0683D00D}"/>
              </a:ext>
            </a:extLst>
          </p:cNvPr>
          <p:cNvSpPr txBox="1"/>
          <p:nvPr/>
        </p:nvSpPr>
        <p:spPr>
          <a:xfrm>
            <a:off x="855406" y="2285999"/>
            <a:ext cx="14748387" cy="497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next generation of wireless communication technology.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explains communication through seven network layers.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compares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6G architecture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6G uses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THz, Edge Computing, and IoE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comparison shows the future of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and efficient communication networks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7">
            <a:extLst>
              <a:ext uri="{FF2B5EF4-FFF2-40B4-BE49-F238E27FC236}">
                <a16:creationId xmlns:a16="http://schemas.microsoft.com/office/drawing/2014/main" id="{7DCB346A-A70A-B4CD-863B-D13E4546DA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032" y="367998"/>
            <a:ext cx="1866899" cy="1838324"/>
          </a:xfrm>
          <a:prstGeom prst="rect">
            <a:avLst/>
          </a:prstGeom>
        </p:spPr>
      </p:pic>
      <p:pic>
        <p:nvPicPr>
          <p:cNvPr id="6" name="object 8">
            <a:extLst>
              <a:ext uri="{FF2B5EF4-FFF2-40B4-BE49-F238E27FC236}">
                <a16:creationId xmlns:a16="http://schemas.microsoft.com/office/drawing/2014/main" id="{701CBABA-F8F2-91A1-3FC3-05F3E817C2B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83766" y="399173"/>
            <a:ext cx="2057399" cy="1857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FFAA9-7EF2-28EF-19AC-7F3AF6275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070" y="524968"/>
            <a:ext cx="13418185" cy="10156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 dirty="0"/>
              <a:t>OBJECTIVE</a:t>
            </a:r>
            <a:endParaRPr lang="en-IN" sz="6600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E2F405A-400F-09C5-98A1-1C9FC7DA9F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3632" y="3001041"/>
            <a:ext cx="14813059" cy="497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To understand the </a:t>
            </a:r>
            <a:r>
              <a:rPr lang="en-US" sz="3600" b="1" dirty="0"/>
              <a:t>6G communication architecture</a:t>
            </a:r>
            <a:r>
              <a:rPr lang="en-US" sz="3600" dirty="0"/>
              <a:t>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To study the </a:t>
            </a:r>
            <a:r>
              <a:rPr lang="en-US" sz="3600" b="1" dirty="0"/>
              <a:t>OSI seven-layer model</a:t>
            </a:r>
            <a:r>
              <a:rPr lang="en-US" sz="3600" dirty="0"/>
              <a:t>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To compare </a:t>
            </a:r>
            <a:r>
              <a:rPr lang="en-US" sz="3600" b="1" dirty="0"/>
              <a:t>6G architecture</a:t>
            </a:r>
            <a:r>
              <a:rPr lang="en-US" sz="3600" dirty="0"/>
              <a:t> with the </a:t>
            </a:r>
            <a:r>
              <a:rPr lang="en-US" sz="3600" b="1" dirty="0"/>
              <a:t>OSI model</a:t>
            </a:r>
            <a:r>
              <a:rPr lang="en-US" sz="3600" dirty="0"/>
              <a:t>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To identify the role of </a:t>
            </a:r>
            <a:r>
              <a:rPr lang="en-US" sz="3600" b="1" dirty="0"/>
              <a:t>advanced 6G technologies</a:t>
            </a:r>
            <a:r>
              <a:rPr lang="en-US" sz="3600" dirty="0"/>
              <a:t>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To analyze the benefits of </a:t>
            </a:r>
            <a:r>
              <a:rPr lang="en-US" sz="3600" b="1" dirty="0"/>
              <a:t>6G in future communication networks</a:t>
            </a:r>
            <a:r>
              <a:rPr lang="en-US" sz="3600" dirty="0"/>
              <a:t>. </a:t>
            </a:r>
          </a:p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7">
            <a:extLst>
              <a:ext uri="{FF2B5EF4-FFF2-40B4-BE49-F238E27FC236}">
                <a16:creationId xmlns:a16="http://schemas.microsoft.com/office/drawing/2014/main" id="{455685C7-84EF-080F-216F-D00E20D4ECA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032" y="367998"/>
            <a:ext cx="1866899" cy="1838324"/>
          </a:xfrm>
          <a:prstGeom prst="rect">
            <a:avLst/>
          </a:prstGeom>
        </p:spPr>
      </p:pic>
      <p:pic>
        <p:nvPicPr>
          <p:cNvPr id="7" name="object 8">
            <a:extLst>
              <a:ext uri="{FF2B5EF4-FFF2-40B4-BE49-F238E27FC236}">
                <a16:creationId xmlns:a16="http://schemas.microsoft.com/office/drawing/2014/main" id="{49A56787-B61F-640E-BEF4-DF68044D86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83766" y="399173"/>
            <a:ext cx="2057399" cy="185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66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92C8-F42D-E75E-F88B-97874D603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070" y="524968"/>
            <a:ext cx="13418185" cy="1061829"/>
          </a:xfrm>
        </p:spPr>
        <p:txBody>
          <a:bodyPr/>
          <a:lstStyle/>
          <a:p>
            <a:pPr algn="ctr"/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1BEA4-F132-EBE8-1C06-283A39D2E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150" y="3259394"/>
            <a:ext cx="13418185" cy="3739914"/>
          </a:xfrm>
        </p:spPr>
        <p:txBody>
          <a:bodyPr>
            <a:normAutofit fontScale="77500" lnSpcReduction="2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Study the </a:t>
            </a:r>
            <a:r>
              <a:rPr lang="en-US" sz="3600" b="1" dirty="0"/>
              <a:t>6G communication architecture</a:t>
            </a:r>
            <a:r>
              <a:rPr lang="en-US" sz="3600" dirty="0"/>
              <a:t>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Analyze the </a:t>
            </a:r>
            <a:r>
              <a:rPr lang="en-US" sz="3600" b="1" dirty="0"/>
              <a:t>OSI seven-layer model</a:t>
            </a:r>
            <a:r>
              <a:rPr lang="en-US" sz="3600" dirty="0"/>
              <a:t>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Compare the functions of </a:t>
            </a:r>
            <a:r>
              <a:rPr lang="en-US" sz="3600" b="1" dirty="0"/>
              <a:t>6G and OSI layers</a:t>
            </a:r>
            <a:r>
              <a:rPr lang="en-US" sz="3600" dirty="0"/>
              <a:t>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Identify key </a:t>
            </a:r>
            <a:r>
              <a:rPr lang="en-US" sz="3600" b="1" dirty="0"/>
              <a:t>6G technologies and features</a:t>
            </a:r>
            <a:r>
              <a:rPr lang="en-US" sz="3600" dirty="0"/>
              <a:t>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Evaluate the comparison and summarize the results. </a:t>
            </a:r>
          </a:p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7BA50355-A603-C67F-6F49-42FFA954D8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032" y="367998"/>
            <a:ext cx="1866899" cy="1838324"/>
          </a:xfrm>
          <a:prstGeom prst="rect">
            <a:avLst/>
          </a:prstGeom>
        </p:spPr>
      </p:pic>
      <p:pic>
        <p:nvPicPr>
          <p:cNvPr id="7" name="object 8">
            <a:extLst>
              <a:ext uri="{FF2B5EF4-FFF2-40B4-BE49-F238E27FC236}">
                <a16:creationId xmlns:a16="http://schemas.microsoft.com/office/drawing/2014/main" id="{EB1007F4-B6F6-D0B2-5AA9-63EE403B229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83766" y="399173"/>
            <a:ext cx="2057399" cy="185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4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0DBB-33D6-018A-D059-D343E140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30A99E4-CF0A-4133-1FA0-79E5A17F8B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8287999" cy="1048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4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032" y="367998"/>
            <a:ext cx="1866899" cy="18383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83766" y="399173"/>
            <a:ext cx="2057399" cy="185737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9668643"/>
            <a:ext cx="18288000" cy="618490"/>
            <a:chOff x="0" y="9668643"/>
            <a:chExt cx="18288000" cy="618490"/>
          </a:xfrm>
        </p:grpSpPr>
        <p:sp>
          <p:nvSpPr>
            <p:cNvPr id="5" name="object 5"/>
            <p:cNvSpPr/>
            <p:nvPr/>
          </p:nvSpPr>
          <p:spPr>
            <a:xfrm>
              <a:off x="0" y="9673342"/>
              <a:ext cx="18288000" cy="614045"/>
            </a:xfrm>
            <a:custGeom>
              <a:avLst/>
              <a:gdLst/>
              <a:ahLst/>
              <a:cxnLst/>
              <a:rect l="l" t="t" r="r" b="b"/>
              <a:pathLst>
                <a:path w="18288000" h="614045">
                  <a:moveTo>
                    <a:pt x="18287917" y="613657"/>
                  </a:moveTo>
                  <a:lnTo>
                    <a:pt x="0" y="613657"/>
                  </a:lnTo>
                  <a:lnTo>
                    <a:pt x="0" y="0"/>
                  </a:lnTo>
                  <a:lnTo>
                    <a:pt x="18287917" y="0"/>
                  </a:lnTo>
                  <a:lnTo>
                    <a:pt x="18287917" y="613657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>
              <a:pPr>
                <a:lnSpc>
                  <a:spcPct val="150000"/>
                </a:lnSpc>
              </a:pPr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668643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18287917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8287917" y="0"/>
                  </a:lnTo>
                  <a:lnTo>
                    <a:pt x="18287917" y="9524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>
              <a:pPr>
                <a:lnSpc>
                  <a:spcPct val="150000"/>
                </a:lnSpc>
              </a:pPr>
              <a:endParaRPr dirty="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179574" y="131818"/>
            <a:ext cx="5436050" cy="1414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385945" algn="l"/>
              </a:tabLst>
            </a:pPr>
            <a:r>
              <a:rPr lang="en-IN" spc="495" dirty="0"/>
              <a:t>MODULE</a:t>
            </a:r>
            <a:r>
              <a:rPr lang="en-IN" dirty="0"/>
              <a:t>	</a:t>
            </a:r>
            <a:r>
              <a:rPr lang="en-IN" spc="-5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DA246-56FF-4B56-CA92-497F208AE227}"/>
              </a:ext>
            </a:extLst>
          </p:cNvPr>
          <p:cNvSpPr txBox="1"/>
          <p:nvPr/>
        </p:nvSpPr>
        <p:spPr>
          <a:xfrm>
            <a:off x="-179613" y="1546629"/>
            <a:ext cx="16313120" cy="2773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Module 1: Study of the OSI Model and Study of 6G Communication</a:t>
            </a:r>
          </a:p>
          <a:p>
            <a:pPr algn="ctr">
              <a:lnSpc>
                <a:spcPct val="150000"/>
              </a:lnSpc>
              <a:spcAft>
                <a:spcPts val="300"/>
              </a:spcAft>
            </a:pPr>
            <a:endParaRPr lang="en-IN" sz="32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CFD306-8B2F-4265-77B8-4E354B981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616119"/>
              </p:ext>
            </p:extLst>
          </p:nvPr>
        </p:nvGraphicFramePr>
        <p:xfrm>
          <a:off x="1446893" y="4482781"/>
          <a:ext cx="15394214" cy="4475943"/>
        </p:xfrm>
        <a:graphic>
          <a:graphicData uri="http://schemas.openxmlformats.org/drawingml/2006/table">
            <a:tbl>
              <a:tblPr/>
              <a:tblGrid>
                <a:gridCol w="7697107">
                  <a:extLst>
                    <a:ext uri="{9D8B030D-6E8A-4147-A177-3AD203B41FA5}">
                      <a16:colId xmlns:a16="http://schemas.microsoft.com/office/drawing/2014/main" val="1267193131"/>
                    </a:ext>
                  </a:extLst>
                </a:gridCol>
                <a:gridCol w="7697107">
                  <a:extLst>
                    <a:ext uri="{9D8B030D-6E8A-4147-A177-3AD203B41FA5}">
                      <a16:colId xmlns:a16="http://schemas.microsoft.com/office/drawing/2014/main" val="637646158"/>
                    </a:ext>
                  </a:extLst>
                </a:gridCol>
              </a:tblGrid>
              <a:tr h="674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/>
                        <a:t>OSI Model</a:t>
                      </a:r>
                      <a:endParaRPr lang="en-IN" sz="3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/>
                        <a:t>6G Communication</a:t>
                      </a:r>
                      <a:endParaRPr lang="en-IN" sz="3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949029"/>
                  </a:ext>
                </a:extLst>
              </a:tr>
              <a:tr h="674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/>
                        <a:t>7-layer network communication model.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/>
                        <a:t>Next-generation wireless technology.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060915"/>
                  </a:ext>
                </a:extLst>
              </a:tr>
              <a:tr h="1226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/>
                        <a:t>Standardizes data transmission.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/>
                        <a:t>Provides ultra-fast, low-latency communication.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110539"/>
                  </a:ext>
                </a:extLst>
              </a:tr>
              <a:tr h="674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/>
                        <a:t>Ensures reliable networking.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/>
                        <a:t>Uses AI, THz, and Edge Computing.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067672"/>
                  </a:ext>
                </a:extLst>
              </a:tr>
              <a:tr h="1226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/>
                        <a:t>Used in all computer networks.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/>
                        <a:t>Supports IoT, Smart Cities, XR, and autonomous vehicles.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760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2A2B-76BE-3C7A-D614-4310F8299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47B6FDB-6871-0CF8-D891-9BC84C154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563" y="1026553"/>
            <a:ext cx="4837430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85945" algn="l"/>
              </a:tabLst>
            </a:pPr>
            <a:r>
              <a:rPr spc="495" dirty="0"/>
              <a:t>MODULE</a:t>
            </a:r>
            <a:r>
              <a:rPr dirty="0"/>
              <a:t>	</a:t>
            </a:r>
            <a:r>
              <a:rPr lang="en-GB" spc="-50" dirty="0"/>
              <a:t>2</a:t>
            </a:r>
            <a:endParaRPr spc="-50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B100B908-3790-DF9E-185A-65E148B2F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83439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27CE3-1612-6E7B-FFA6-3D2EDFD2F415}"/>
              </a:ext>
            </a:extLst>
          </p:cNvPr>
          <p:cNvSpPr txBox="1"/>
          <p:nvPr/>
        </p:nvSpPr>
        <p:spPr>
          <a:xfrm>
            <a:off x="1732320" y="3792315"/>
            <a:ext cx="15471058" cy="6086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Module 2: Comparison of 6G Architecture with the OSI Model</a:t>
            </a:r>
          </a:p>
          <a:p>
            <a:endParaRPr lang="en-US" sz="3600" b="1" dirty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Compare the </a:t>
            </a:r>
            <a:r>
              <a:rPr lang="en-US" sz="3600" b="1" dirty="0"/>
              <a:t>6G communication architecture</a:t>
            </a:r>
            <a:r>
              <a:rPr lang="en-US" sz="3600" dirty="0"/>
              <a:t> with the </a:t>
            </a:r>
            <a:r>
              <a:rPr lang="en-US" sz="3600" b="1" dirty="0"/>
              <a:t>OSI model</a:t>
            </a:r>
            <a:r>
              <a:rPr lang="en-US" sz="3600" dirty="0"/>
              <a:t>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Identify the role of each OSI layer in 6G communication.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Analyze the similarities and differences between both architectures.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Evaluate the advantages and future scope of 6G communication networks.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1A634-55D3-367C-6C30-F4B46840C14E}"/>
              </a:ext>
            </a:extLst>
          </p:cNvPr>
          <p:cNvSpPr txBox="1"/>
          <p:nvPr/>
        </p:nvSpPr>
        <p:spPr>
          <a:xfrm>
            <a:off x="1934984" y="2103513"/>
            <a:ext cx="12884197" cy="741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300"/>
              </a:spcAft>
            </a:pPr>
            <a:r>
              <a:rPr lang="en-US" sz="3200" b="1" dirty="0"/>
              <a:t>Model Development</a:t>
            </a:r>
            <a:endParaRPr lang="en-IN" sz="32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4CDDEB49-161C-C202-23BF-A232452E65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032" y="367998"/>
            <a:ext cx="1866899" cy="1838324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9731288D-94D3-CC5E-0B34-F77728157BB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83766" y="399173"/>
            <a:ext cx="2057399" cy="185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2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423CC-C4C5-FD8D-3C82-4754A28E8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070" y="524968"/>
            <a:ext cx="13418185" cy="1061829"/>
          </a:xfrm>
        </p:spPr>
        <p:txBody>
          <a:bodyPr/>
          <a:lstStyle/>
          <a:p>
            <a:pPr algn="ctr"/>
            <a:r>
              <a:rPr lang="en-US" dirty="0"/>
              <a:t>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06FA9-5007-32AC-2B87-70CEDC7DC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40" y="2728452"/>
            <a:ext cx="15367818" cy="5014451"/>
          </a:xfrm>
        </p:spPr>
        <p:txBody>
          <a:bodyPr>
            <a:normAutofit fontScale="85000" lnSpcReduction="10000"/>
          </a:bodyPr>
          <a:lstStyle/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4400" b="1" dirty="0"/>
              <a:t>Ultra-high data transmission speed</a:t>
            </a:r>
            <a:r>
              <a:rPr lang="en-US" sz="4400" dirty="0"/>
              <a:t> for faster communication. </a:t>
            </a:r>
          </a:p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4400" b="1" dirty="0"/>
              <a:t>Very low latency</a:t>
            </a:r>
            <a:r>
              <a:rPr lang="en-US" sz="4400" dirty="0"/>
              <a:t> for real-time applications. </a:t>
            </a:r>
            <a:r>
              <a:rPr lang="en-US" sz="4400" b="1" dirty="0"/>
              <a:t>AI-based intelligent network management</a:t>
            </a:r>
            <a:r>
              <a:rPr lang="en-US" sz="4400" dirty="0"/>
              <a:t> improves efficiency</a:t>
            </a:r>
          </a:p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4400" b="1" dirty="0"/>
              <a:t>Enhanced security and reliability</a:t>
            </a:r>
            <a:r>
              <a:rPr lang="en-US" sz="4400" dirty="0"/>
              <a:t> for safe data communication. </a:t>
            </a:r>
          </a:p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4400" b="1" dirty="0"/>
              <a:t>Supports future technologies</a:t>
            </a:r>
            <a:r>
              <a:rPr lang="en-US" sz="4400" dirty="0"/>
              <a:t> such as smart cities, IoE, autonomous vehicles, and holographic communication.</a:t>
            </a:r>
            <a:endParaRPr lang="en-US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84079353-45EE-84A3-207C-0189F9878F0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032" y="367998"/>
            <a:ext cx="1866899" cy="1838324"/>
          </a:xfrm>
          <a:prstGeom prst="rect">
            <a:avLst/>
          </a:prstGeom>
        </p:spPr>
      </p:pic>
      <p:pic>
        <p:nvPicPr>
          <p:cNvPr id="7" name="object 8">
            <a:extLst>
              <a:ext uri="{FF2B5EF4-FFF2-40B4-BE49-F238E27FC236}">
                <a16:creationId xmlns:a16="http://schemas.microsoft.com/office/drawing/2014/main" id="{81D2E86D-547F-37F2-0000-932002C94C9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83766" y="399173"/>
            <a:ext cx="2057399" cy="185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67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8B981-C79B-D682-723F-0EE1B216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2C09-67B4-54FC-2241-BDB7014D8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070" y="524968"/>
            <a:ext cx="13418185" cy="1061829"/>
          </a:xfrm>
        </p:spPr>
        <p:txBody>
          <a:bodyPr/>
          <a:lstStyle/>
          <a:p>
            <a:pPr algn="ctr"/>
            <a:r>
              <a:rPr lang="en-US" dirty="0"/>
              <a:t>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634DA-CF41-4737-28F0-47BC498C7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665" y="2099698"/>
            <a:ext cx="15094973" cy="6557606"/>
          </a:xfrm>
        </p:spPr>
        <p:txBody>
          <a:bodyPr>
            <a:normAutofit fontScale="77500" lnSpcReduction="2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b="1" dirty="0"/>
              <a:t>Smart Cities</a:t>
            </a:r>
            <a:r>
              <a:rPr lang="en-US" sz="4400" dirty="0"/>
              <a:t> – Supports intelligent traffic and public services.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b="1" dirty="0"/>
              <a:t>Autonomous Vehicles</a:t>
            </a:r>
            <a:r>
              <a:rPr lang="en-US" sz="4400" dirty="0"/>
              <a:t> – Enables real-time communication for self-driving cars.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b="1" dirty="0"/>
              <a:t>Healthcare</a:t>
            </a:r>
            <a:r>
              <a:rPr lang="en-US" sz="4400" dirty="0"/>
              <a:t> – Supports remote surgery and telemedicine.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b="1" dirty="0"/>
              <a:t>Internet of Everything (IoE)</a:t>
            </a:r>
            <a:r>
              <a:rPr lang="en-US" sz="4400" dirty="0"/>
              <a:t> – Connects smart devices, sensors, and machines.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b="1" dirty="0"/>
              <a:t>Industrial Automation</a:t>
            </a:r>
            <a:r>
              <a:rPr lang="en-US" sz="4400" dirty="0"/>
              <a:t> – Improves smart factories and robotics with high-speed connectivity. </a:t>
            </a:r>
          </a:p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5CD5EC78-B499-CA01-2793-D2FF20E4FC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032" y="367998"/>
            <a:ext cx="1866899" cy="1838324"/>
          </a:xfrm>
          <a:prstGeom prst="rect">
            <a:avLst/>
          </a:prstGeom>
        </p:spPr>
      </p:pic>
      <p:pic>
        <p:nvPicPr>
          <p:cNvPr id="7" name="object 8">
            <a:extLst>
              <a:ext uri="{FF2B5EF4-FFF2-40B4-BE49-F238E27FC236}">
                <a16:creationId xmlns:a16="http://schemas.microsoft.com/office/drawing/2014/main" id="{0C0EC83D-CF08-B7A8-457C-B6FC13A3864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83766" y="399173"/>
            <a:ext cx="2057399" cy="185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39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668509"/>
            <a:ext cx="18288000" cy="618490"/>
            <a:chOff x="0" y="9668643"/>
            <a:chExt cx="18288000" cy="618490"/>
          </a:xfrm>
        </p:grpSpPr>
        <p:sp>
          <p:nvSpPr>
            <p:cNvPr id="3" name="object 3"/>
            <p:cNvSpPr/>
            <p:nvPr/>
          </p:nvSpPr>
          <p:spPr>
            <a:xfrm>
              <a:off x="0" y="9673342"/>
              <a:ext cx="18288000" cy="614045"/>
            </a:xfrm>
            <a:custGeom>
              <a:avLst/>
              <a:gdLst/>
              <a:ahLst/>
              <a:cxnLst/>
              <a:rect l="l" t="t" r="r" b="b"/>
              <a:pathLst>
                <a:path w="18288000" h="614045">
                  <a:moveTo>
                    <a:pt x="18287917" y="613657"/>
                  </a:moveTo>
                  <a:lnTo>
                    <a:pt x="0" y="613657"/>
                  </a:lnTo>
                  <a:lnTo>
                    <a:pt x="0" y="0"/>
                  </a:lnTo>
                  <a:lnTo>
                    <a:pt x="18287917" y="0"/>
                  </a:lnTo>
                  <a:lnTo>
                    <a:pt x="18287917" y="613657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>
              <a:endParaRPr b="1"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9668643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18287917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8287917" y="0"/>
                  </a:lnTo>
                  <a:lnTo>
                    <a:pt x="18287917" y="9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1" dirty="0"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346" y="1"/>
            <a:ext cx="1076324" cy="1971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8946" y="1"/>
            <a:ext cx="1076324" cy="19716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032" y="367998"/>
            <a:ext cx="1866899" cy="18383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83766" y="399173"/>
            <a:ext cx="2057399" cy="185737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60120" y="2884170"/>
            <a:ext cx="16684848" cy="4649992"/>
          </a:xfrm>
          <a:prstGeom prst="rect">
            <a:avLst/>
          </a:prstGeom>
        </p:spPr>
        <p:txBody>
          <a:bodyPr vert="horz" wrap="square" lIns="0" tIns="588836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Improve AI-based network automation</a:t>
            </a:r>
            <a:r>
              <a:rPr lang="en-US" sz="3600" dirty="0"/>
              <a:t> for smarter communication.</a:t>
            </a:r>
            <a:br>
              <a:rPr lang="en-US" sz="3600" dirty="0"/>
            </a:br>
            <a:r>
              <a:rPr lang="en-US" sz="3600" b="1" dirty="0"/>
              <a:t>Increase network speed and capacity</a:t>
            </a:r>
            <a:r>
              <a:rPr lang="en-US" sz="3600" dirty="0"/>
              <a:t> using advanced 6G technologies. </a:t>
            </a:r>
            <a:br>
              <a:rPr lang="en-US" sz="3600" dirty="0"/>
            </a:br>
            <a:r>
              <a:rPr lang="en-US" sz="3600" b="1" dirty="0"/>
              <a:t>Enhance security and privacy</a:t>
            </a:r>
            <a:r>
              <a:rPr lang="en-US" sz="3600" dirty="0"/>
              <a:t> with next-generation encryption. </a:t>
            </a:r>
            <a:br>
              <a:rPr lang="en-US" sz="3600" dirty="0"/>
            </a:br>
            <a:r>
              <a:rPr lang="en-US" sz="3600" b="1" dirty="0"/>
              <a:t>Expand support for IoE and smart devices</a:t>
            </a:r>
            <a:r>
              <a:rPr lang="en-US" sz="3600" dirty="0"/>
              <a:t> across various industries. </a:t>
            </a:r>
            <a:br>
              <a:rPr lang="en-US" sz="3600" dirty="0"/>
            </a:br>
            <a:r>
              <a:rPr lang="en-US" sz="3600" b="1" dirty="0"/>
              <a:t>Enable advanced applications</a:t>
            </a:r>
            <a:r>
              <a:rPr lang="en-US" sz="3600" dirty="0"/>
              <a:t> such as holographic communication and digital twins.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53E1AF7-2ED6-21CB-F5BC-B26426BBE26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099288" y="5873425"/>
            <a:ext cx="11440870" cy="150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BBE40-2C90-C8D3-74C5-2E6B2C92308B}"/>
              </a:ext>
            </a:extLst>
          </p:cNvPr>
          <p:cNvSpPr txBox="1"/>
          <p:nvPr/>
        </p:nvSpPr>
        <p:spPr>
          <a:xfrm>
            <a:off x="5166360" y="608966"/>
            <a:ext cx="8397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93935-29B4-7861-C4FB-EA1F70E09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070" y="524968"/>
            <a:ext cx="13418185" cy="1061829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CF878A-45B1-3979-090E-605D0296AB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2287158"/>
            <a:ext cx="15941903" cy="7757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/>
              <a:t>6G</a:t>
            </a:r>
            <a:r>
              <a:rPr lang="en-US" sz="4400" dirty="0"/>
              <a:t> is the future of wireless communication with high speed and low latency.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/>
              <a:t>The </a:t>
            </a:r>
            <a:r>
              <a:rPr lang="en-US" sz="4400" b="1" dirty="0"/>
              <a:t>OSI model</a:t>
            </a:r>
            <a:r>
              <a:rPr lang="en-US" sz="4400" dirty="0"/>
              <a:t> provides a standard framework for network communication.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/>
              <a:t>Comparing </a:t>
            </a:r>
            <a:r>
              <a:rPr lang="en-US" sz="4400" b="1" dirty="0"/>
              <a:t>6G and the OSI model</a:t>
            </a:r>
            <a:r>
              <a:rPr lang="en-US" sz="4400" dirty="0"/>
              <a:t> helps understand modern networking concepts.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/>
              <a:t>AI, THz communication, and Edge Computing</a:t>
            </a:r>
            <a:r>
              <a:rPr lang="en-US" sz="4400" dirty="0"/>
              <a:t> make 6G more intelligent and efficient.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/>
              <a:t>6G will enable faster, smarter, and more reliable communication networks</a:t>
            </a:r>
            <a:r>
              <a:rPr lang="en-US" sz="4400" dirty="0"/>
              <a:t> in the future. </a:t>
            </a:r>
          </a:p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1CC85FF2-D3B4-FB97-621A-8F4C2BEA46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032" y="367998"/>
            <a:ext cx="1866899" cy="1838324"/>
          </a:xfrm>
          <a:prstGeom prst="rect">
            <a:avLst/>
          </a:prstGeom>
        </p:spPr>
      </p:pic>
      <p:pic>
        <p:nvPicPr>
          <p:cNvPr id="7" name="object 8">
            <a:extLst>
              <a:ext uri="{FF2B5EF4-FFF2-40B4-BE49-F238E27FC236}">
                <a16:creationId xmlns:a16="http://schemas.microsoft.com/office/drawing/2014/main" id="{F6210EA4-102B-6A68-D95E-556AC81402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83766" y="399173"/>
            <a:ext cx="2057399" cy="185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60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032" y="367998"/>
            <a:ext cx="1866899" cy="18383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83766" y="399173"/>
            <a:ext cx="2057399" cy="18573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69076" y="4362976"/>
            <a:ext cx="7150100" cy="1804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650" spc="615" dirty="0"/>
              <a:t>Thank</a:t>
            </a:r>
            <a:r>
              <a:rPr sz="11650" spc="15" dirty="0"/>
              <a:t> </a:t>
            </a:r>
            <a:r>
              <a:rPr sz="11650" spc="-1080" dirty="0"/>
              <a:t>Y</a:t>
            </a:r>
            <a:r>
              <a:rPr sz="11650" spc="500" dirty="0"/>
              <a:t>ou</a:t>
            </a:r>
            <a:endParaRPr sz="1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591</Words>
  <Application>Microsoft Office PowerPoint</Application>
  <PresentationFormat>Custom</PresentationFormat>
  <Paragraphs>75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Times New Roman</vt:lpstr>
      <vt:lpstr>Trebuchet MS</vt:lpstr>
      <vt:lpstr>Wingdings</vt:lpstr>
      <vt:lpstr>Wingdings 3</vt:lpstr>
      <vt:lpstr>Facet</vt:lpstr>
      <vt:lpstr>PowerPoint Presentation</vt:lpstr>
      <vt:lpstr>ABSTRACT</vt:lpstr>
      <vt:lpstr>INTRODUCTION</vt:lpstr>
      <vt:lpstr>OBJECTIVE</vt:lpstr>
      <vt:lpstr>METHODOLOGY</vt:lpstr>
      <vt:lpstr>PowerPoint Presentation</vt:lpstr>
      <vt:lpstr>MODULE 1</vt:lpstr>
      <vt:lpstr>MODULE 2</vt:lpstr>
      <vt:lpstr>ADVANTAGES</vt:lpstr>
      <vt:lpstr>APPLICATION</vt:lpstr>
      <vt:lpstr>Improve AI-based network automation for smarter communication. Increase network speed and capacity using advanced 6G technologies.  Enhance security and privacy with next-generation encryption.  Expand support for IoE and smart devices across various industries.  Enable advanced applications such as holographic communication and digital twins.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</dc:creator>
  <cp:lastModifiedBy>noor mohammad</cp:lastModifiedBy>
  <cp:revision>3</cp:revision>
  <dcterms:created xsi:type="dcterms:W3CDTF">2026-05-26T04:12:09Z</dcterms:created>
  <dcterms:modified xsi:type="dcterms:W3CDTF">2026-07-20T04:59:12Z</dcterms:modified>
</cp:coreProperties>
</file>